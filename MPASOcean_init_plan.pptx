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504" r:id="rId5"/>
    <p:sldId id="519" r:id="rId6"/>
    <p:sldId id="520" r:id="rId7"/>
    <p:sldId id="521" r:id="rId8"/>
    <p:sldId id="522" r:id="rId9"/>
    <p:sldId id="507" r:id="rId10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2AB3A54-F5F4-4D2C-FE02-1605E2249A1D}" name="Zhili Feng" initials="ZF" userId="ce3df567ea0e2766" providerId="Windows Live"/>
  <p188:author id="{8A288E99-CAC2-2245-3D94-235197D89344}" name="Wang, Dali" initials="WD" userId="S::7xw@ornl.gov::c25e871c-c2bd-4a4e-a001-7932f2e7799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E6FB"/>
    <a:srgbClr val="FF9900"/>
    <a:srgbClr val="9A9B9D"/>
    <a:srgbClr val="AEB0AF"/>
    <a:srgbClr val="CEC7C1"/>
    <a:srgbClr val="8C8D90"/>
    <a:srgbClr val="D25350"/>
    <a:srgbClr val="808184"/>
    <a:srgbClr val="75767A"/>
    <a:srgbClr val="4E4F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2" autoAdjust="0"/>
    <p:restoredTop sz="86986" autoAdjust="0"/>
  </p:normalViewPr>
  <p:slideViewPr>
    <p:cSldViewPr snapToGrid="0" showGuides="1">
      <p:cViewPr varScale="1">
        <p:scale>
          <a:sx n="105" d="100"/>
          <a:sy n="105" d="100"/>
        </p:scale>
        <p:origin x="1400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>
        <p:scale>
          <a:sx n="50" d="100"/>
          <a:sy n="50" d="100"/>
        </p:scale>
        <p:origin x="5664" y="167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533024-10F1-4BC3-BAA5-CB28D8F9B6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8810624"/>
            <a:ext cx="3038475" cy="466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74A39D-78C5-4FF5-94A2-BCBFAF602A34}" type="datetimeFigureOut">
              <a:rPr lang="en-US" smtClean="0">
                <a:latin typeface="+mn-lt"/>
              </a:rPr>
              <a:t>5/9/26</a:t>
            </a:fld>
            <a:endParaRPr lang="en-US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2005F-34EB-4228-A469-9DA7EF685E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0" y="8810626"/>
            <a:ext cx="3038475" cy="466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75DCF9F-B5D2-4E17-BF72-5579017E6EA3}" type="slidenum">
              <a:rPr lang="en-US" smtClean="0">
                <a:latin typeface="+mn-lt"/>
              </a:rPr>
              <a:pPr algn="l"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575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41" y="8801100"/>
            <a:ext cx="3038475" cy="4667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</a:defRPr>
            </a:lvl1pPr>
          </a:lstStyle>
          <a:p>
            <a:fld id="{D7992059-949A-4D84-A84D-82EB5F97947B}" type="datetimeFigureOut">
              <a:rPr lang="en-US" smtClean="0"/>
              <a:pPr/>
              <a:t>5/9/26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7"/>
            <a:ext cx="5607050" cy="366077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" y="8801100"/>
            <a:ext cx="3038475" cy="466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</a:defRPr>
            </a:lvl1pPr>
          </a:lstStyle>
          <a:p>
            <a:fld id="{DBFF095A-F86B-4B29-8A9F-DF3D3D1F3E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89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90000"/>
      </a:lnSpc>
      <a:spcBef>
        <a:spcPts val="300"/>
      </a:spcBef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lnSpc>
        <a:spcPct val="90000"/>
      </a:lnSpc>
      <a:spcBef>
        <a:spcPts val="300"/>
      </a:spcBef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lnSpc>
        <a:spcPct val="90000"/>
      </a:lnSpc>
      <a:spcBef>
        <a:spcPts val="300"/>
      </a:spcBef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lnSpc>
        <a:spcPct val="90000"/>
      </a:lnSpc>
      <a:spcBef>
        <a:spcPts val="300"/>
      </a:spcBef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lnSpc>
        <a:spcPct val="90000"/>
      </a:lnSpc>
      <a:spcBef>
        <a:spcPts val="300"/>
      </a:spcBef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03D93-FA98-E678-246B-F14A621C7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0B448-5C7D-FF4A-788D-4F4C0017A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9A89E-D04A-7658-6D19-A69E70C77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A31FE-8E52-F181-B625-929D08F8D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F095A-F86B-4B29-8A9F-DF3D3D1F3E2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184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F095A-F86B-4B29-8A9F-DF3D3D1F3E2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61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A5D040-4FD6-4BA1-AC81-B5CFF26CC6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1" y="1074420"/>
            <a:ext cx="11334582" cy="4233245"/>
          </a:xfrm>
          <a:prstGeom prst="rect">
            <a:avLst/>
          </a:prstGeom>
        </p:spPr>
      </p:pic>
      <p:sp>
        <p:nvSpPr>
          <p:cNvPr id="15" name="Freeform 7">
            <a:extLst>
              <a:ext uri="{FF2B5EF4-FFF2-40B4-BE49-F238E27FC236}">
                <a16:creationId xmlns:a16="http://schemas.microsoft.com/office/drawing/2014/main" id="{454A96CC-B6D3-471D-892D-1DBFEFBD0D12}"/>
              </a:ext>
            </a:extLst>
          </p:cNvPr>
          <p:cNvSpPr>
            <a:spLocks/>
          </p:cNvSpPr>
          <p:nvPr userDrawn="1"/>
        </p:nvSpPr>
        <p:spPr bwMode="auto">
          <a:xfrm>
            <a:off x="6096000" y="0"/>
            <a:ext cx="6096000" cy="6858000"/>
          </a:xfrm>
          <a:custGeom>
            <a:avLst/>
            <a:gdLst>
              <a:gd name="T0" fmla="*/ 3049 w 3388"/>
              <a:gd name="T1" fmla="*/ 0 h 3815"/>
              <a:gd name="T2" fmla="*/ 3049 w 3388"/>
              <a:gd name="T3" fmla="*/ 2951 h 3815"/>
              <a:gd name="T4" fmla="*/ 0 w 3388"/>
              <a:gd name="T5" fmla="*/ 2951 h 3815"/>
              <a:gd name="T6" fmla="*/ 0 w 3388"/>
              <a:gd name="T7" fmla="*/ 3815 h 3815"/>
              <a:gd name="T8" fmla="*/ 3388 w 3388"/>
              <a:gd name="T9" fmla="*/ 3815 h 3815"/>
              <a:gd name="T10" fmla="*/ 3388 w 3388"/>
              <a:gd name="T11" fmla="*/ 2969 h 3815"/>
              <a:gd name="T12" fmla="*/ 3388 w 3388"/>
              <a:gd name="T13" fmla="*/ 2951 h 3815"/>
              <a:gd name="T14" fmla="*/ 3388 w 3388"/>
              <a:gd name="T15" fmla="*/ 0 h 3815"/>
              <a:gd name="T16" fmla="*/ 3049 w 3388"/>
              <a:gd name="T17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88" h="3815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latin typeface="+mn-lt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0494F7A-66DD-4829-9AF4-30A3A0F241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4576" y="5392850"/>
            <a:ext cx="1644776" cy="40263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337BA4A-B024-42C0-AEE3-721B228F8259}"/>
              </a:ext>
            </a:extLst>
          </p:cNvPr>
          <p:cNvSpPr/>
          <p:nvPr userDrawn="1"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9E6EA7-E7F1-42F0-95B8-1B1A5A465AF6}"/>
              </a:ext>
            </a:extLst>
          </p:cNvPr>
          <p:cNvSpPr/>
          <p:nvPr userDrawn="1"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267160" y="5343835"/>
            <a:ext cx="5384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solidFill>
                  <a:schemeClr val="tx1"/>
                </a:solidFill>
                <a:latin typeface="Century Gothic" panose="020B0502020202020204" pitchFamily="34" charset="0"/>
              </a:rPr>
              <a:t>ORNL is managed by UT-Battelle, LLC for the US Department of Energy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28736" y="1388962"/>
            <a:ext cx="8678194" cy="978729"/>
          </a:xfrm>
        </p:spPr>
        <p:txBody>
          <a:bodyPr/>
          <a:lstStyle>
            <a:lvl1pPr algn="l">
              <a:defRPr sz="3200" b="1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447481" y="3013455"/>
            <a:ext cx="5440514" cy="2028101"/>
          </a:xfrm>
        </p:spPr>
        <p:txBody>
          <a:bodyPr/>
          <a:lstStyle>
            <a:lvl1pPr marL="0" indent="0" algn="l">
              <a:buNone/>
              <a:defRPr sz="2000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E99884-2636-4794-A093-0F9256951E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08885D2-FD1E-244A-AC6D-F5285762CD16}"/>
              </a:ext>
            </a:extLst>
          </p:cNvPr>
          <p:cNvGrpSpPr/>
          <p:nvPr userDrawn="1"/>
        </p:nvGrpSpPr>
        <p:grpSpPr>
          <a:xfrm>
            <a:off x="8726528" y="2175951"/>
            <a:ext cx="2416096" cy="2506098"/>
            <a:chOff x="4862201" y="727521"/>
            <a:chExt cx="3714203" cy="3852560"/>
          </a:xfrm>
        </p:grpSpPr>
        <p:pic>
          <p:nvPicPr>
            <p:cNvPr id="17" name="Picture 59">
              <a:extLst>
                <a:ext uri="{FF2B5EF4-FFF2-40B4-BE49-F238E27FC236}">
                  <a16:creationId xmlns:a16="http://schemas.microsoft.com/office/drawing/2014/main" id="{51AE451E-7889-A243-BD5B-437F063D685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663708" y="2641405"/>
              <a:ext cx="1937988" cy="1938676"/>
            </a:xfrm>
            <a:prstGeom prst="ellipse">
              <a:avLst/>
            </a:prstGeom>
            <a:noFill/>
            <a:ln w="38100" cmpd="sng">
              <a:solidFill>
                <a:schemeClr val="accent2"/>
              </a:solidFill>
            </a:ln>
          </p:spPr>
        </p:pic>
        <p:pic>
          <p:nvPicPr>
            <p:cNvPr id="18" name="Picture 6">
              <a:extLst>
                <a:ext uri="{FF2B5EF4-FFF2-40B4-BE49-F238E27FC236}">
                  <a16:creationId xmlns:a16="http://schemas.microsoft.com/office/drawing/2014/main" id="{DE8A4E08-9FF8-254A-AAC3-353A90760D6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2201" y="727521"/>
              <a:ext cx="2262427" cy="2262427"/>
            </a:xfrm>
            <a:prstGeom prst="ellipse">
              <a:avLst/>
            </a:prstGeom>
            <a:noFill/>
            <a:ln w="38100" cmpd="sng">
              <a:solidFill>
                <a:schemeClr val="accent2"/>
              </a:solidFill>
            </a:ln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1A62C32-342A-6D4E-9DA6-748EC42E332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610679" y="1334278"/>
              <a:ext cx="1965725" cy="1964103"/>
            </a:xfrm>
            <a:prstGeom prst="ellipse">
              <a:avLst/>
            </a:prstGeom>
            <a:ln w="38100">
              <a:solidFill>
                <a:schemeClr val="accent2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793082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7" y="274320"/>
            <a:ext cx="11430000" cy="539496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055" y="1653735"/>
            <a:ext cx="11430000" cy="4047778"/>
          </a:xfrm>
        </p:spPr>
        <p:txBody>
          <a:bodyPr/>
          <a:lstStyle>
            <a:lvl1pPr marL="288925" indent="-288925">
              <a:spcBef>
                <a:spcPts val="1800"/>
              </a:spcBef>
              <a:buClr>
                <a:schemeClr val="tx1"/>
              </a:buClr>
              <a:buSzPct val="90000"/>
              <a:buFont typeface="Century Gothic" panose="020B0502020202020204" pitchFamily="34" charset="0"/>
              <a:buChar char="•"/>
              <a:defRPr lang="en-US" sz="28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7388" indent="-288925"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>
                <a:latin typeface="+mn-lt"/>
                <a:cs typeface="Arial" panose="020B0604020202020204" pitchFamily="34" charset="0"/>
              </a:defRPr>
            </a:lvl2pPr>
            <a:lvl3pPr marL="1031875" indent="-288925">
              <a:buClr>
                <a:schemeClr val="tx1"/>
              </a:buClr>
              <a:buSzPct val="90000"/>
              <a:buFont typeface="Century Gothic" panose="020B0502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3pPr>
            <a:lvl4pPr>
              <a:buClr>
                <a:schemeClr val="tx1"/>
              </a:buClr>
              <a:defRPr>
                <a:latin typeface="+mn-lt"/>
                <a:cs typeface="Arial" panose="020B0604020202020204" pitchFamily="34" charset="0"/>
              </a:defRPr>
            </a:lvl4pPr>
            <a:lvl5pPr marL="1482725" indent="-222250">
              <a:buClr>
                <a:schemeClr val="tx1"/>
              </a:buClr>
              <a:buFont typeface="Arial" panose="020B0604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7458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7DAB3A-4154-42CC-B73A-07DD412DD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401" b="-1"/>
          <a:stretch/>
        </p:blipFill>
        <p:spPr>
          <a:xfrm>
            <a:off x="6095998" y="1078992"/>
            <a:ext cx="5535025" cy="42286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79D6E9-7CB6-4816-BA71-A98C108727C8}"/>
              </a:ext>
            </a:extLst>
          </p:cNvPr>
          <p:cNvSpPr/>
          <p:nvPr userDrawn="1"/>
        </p:nvSpPr>
        <p:spPr>
          <a:xfrm>
            <a:off x="274320" y="1078992"/>
            <a:ext cx="5821680" cy="4228673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F2F47A-E421-4CE0-A746-76A8C436B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352479"/>
            <a:ext cx="5413469" cy="11007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068FB31-3CF5-496E-BC0D-61D682234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2217" y="2891883"/>
            <a:ext cx="5431021" cy="2252546"/>
          </a:xfrm>
        </p:spPr>
        <p:txBody>
          <a:bodyPr/>
          <a:lstStyle>
            <a:lvl1pPr marL="287338" indent="-287338">
              <a:buClr>
                <a:schemeClr val="tx1"/>
              </a:buClr>
              <a:buFont typeface="Century Gothic" panose="020B0502020202020204" pitchFamily="34" charset="0"/>
              <a:buChar char="•"/>
              <a:defRPr sz="2000">
                <a:latin typeface="Century Gothic" panose="020B0502020202020204" pitchFamily="34" charset="0"/>
              </a:defRPr>
            </a:lvl1pPr>
            <a:lvl2pPr marL="688975" indent="-285750">
              <a:buClr>
                <a:schemeClr val="tx1"/>
              </a:buClr>
              <a:buFont typeface="Century Gothic" panose="020B0502020202020204" pitchFamily="34" charset="0"/>
              <a:buChar char="–"/>
              <a:defRPr sz="1800">
                <a:latin typeface="Century Gothic" panose="020B0502020202020204" pitchFamily="34" charset="0"/>
              </a:defRPr>
            </a:lvl2pPr>
            <a:lvl3pPr>
              <a:defRPr sz="1600"/>
            </a:lvl3pPr>
            <a:lvl4pPr>
              <a:defRPr sz="1400"/>
            </a:lvl4pPr>
            <a:lvl5pPr marL="1482725" indent="-2222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ACC93F-6123-3F49-8C15-4A811AF8B7BB}"/>
              </a:ext>
            </a:extLst>
          </p:cNvPr>
          <p:cNvSpPr/>
          <p:nvPr userDrawn="1"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756F41-5AD0-C346-AE90-A0206E07D1B9}"/>
              </a:ext>
            </a:extLst>
          </p:cNvPr>
          <p:cNvSpPr/>
          <p:nvPr userDrawn="1"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E79036-1F33-40EB-AB47-F9529E5C3C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12" name="Freeform 7">
            <a:extLst>
              <a:ext uri="{FF2B5EF4-FFF2-40B4-BE49-F238E27FC236}">
                <a16:creationId xmlns:a16="http://schemas.microsoft.com/office/drawing/2014/main" id="{3E861E90-11A2-4A0B-85EB-1A2865C9A48F}"/>
              </a:ext>
            </a:extLst>
          </p:cNvPr>
          <p:cNvSpPr>
            <a:spLocks/>
          </p:cNvSpPr>
          <p:nvPr userDrawn="1"/>
        </p:nvSpPr>
        <p:spPr bwMode="auto">
          <a:xfrm>
            <a:off x="6096000" y="0"/>
            <a:ext cx="6096000" cy="6858000"/>
          </a:xfrm>
          <a:custGeom>
            <a:avLst/>
            <a:gdLst>
              <a:gd name="T0" fmla="*/ 3049 w 3388"/>
              <a:gd name="T1" fmla="*/ 0 h 3815"/>
              <a:gd name="T2" fmla="*/ 3049 w 3388"/>
              <a:gd name="T3" fmla="*/ 2951 h 3815"/>
              <a:gd name="T4" fmla="*/ 0 w 3388"/>
              <a:gd name="T5" fmla="*/ 2951 h 3815"/>
              <a:gd name="T6" fmla="*/ 0 w 3388"/>
              <a:gd name="T7" fmla="*/ 3815 h 3815"/>
              <a:gd name="T8" fmla="*/ 3388 w 3388"/>
              <a:gd name="T9" fmla="*/ 3815 h 3815"/>
              <a:gd name="T10" fmla="*/ 3388 w 3388"/>
              <a:gd name="T11" fmla="*/ 2969 h 3815"/>
              <a:gd name="T12" fmla="*/ 3388 w 3388"/>
              <a:gd name="T13" fmla="*/ 2951 h 3815"/>
              <a:gd name="T14" fmla="*/ 3388 w 3388"/>
              <a:gd name="T15" fmla="*/ 0 h 3815"/>
              <a:gd name="T16" fmla="*/ 3049 w 3388"/>
              <a:gd name="T17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88" h="3815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rgbClr val="CBCBC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671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274320"/>
            <a:ext cx="11504904" cy="535531"/>
          </a:xfrm>
        </p:spPr>
        <p:txBody>
          <a:bodyPr/>
          <a:lstStyle>
            <a:lvl1pPr>
              <a:lnSpc>
                <a:spcPct val="9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5" y="1444753"/>
            <a:ext cx="5507832" cy="4203944"/>
          </a:xfrm>
        </p:spPr>
        <p:txBody>
          <a:bodyPr/>
          <a:lstStyle>
            <a:lvl1pPr marL="230188" indent="-230188">
              <a:buClr>
                <a:schemeClr val="tx1"/>
              </a:buClr>
              <a:buFont typeface="Century Gothic" panose="020B0502020202020204" pitchFamily="34" charset="0"/>
              <a:buChar char="•"/>
              <a:defRPr sz="2000" baseline="0">
                <a:latin typeface="Century Gothic" panose="020B0502020202020204" pitchFamily="34" charset="0"/>
              </a:defRPr>
            </a:lvl1pPr>
            <a:lvl2pPr marL="625475" indent="-279400"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800">
                <a:latin typeface="+mn-lt"/>
              </a:defRPr>
            </a:lvl2pPr>
            <a:lvl3pPr marL="914400" indent="-230188">
              <a:buClr>
                <a:schemeClr val="tx1"/>
              </a:buClr>
              <a:buFont typeface="Century Gothic" panose="020B0502020202020204" pitchFamily="34" charset="0"/>
              <a:buChar char="•"/>
              <a:defRPr sz="1600" baseline="0">
                <a:latin typeface="Century Gothic" panose="020B0502020202020204" pitchFamily="34" charset="0"/>
              </a:defRPr>
            </a:lvl3pPr>
            <a:lvl4pPr marL="971550" indent="0">
              <a:buClr>
                <a:schemeClr val="tx1"/>
              </a:buClr>
              <a:buFont typeface="Century Gothic" panose="020B0502020202020204" pitchFamily="34" charset="0"/>
              <a:buNone/>
              <a:defRPr sz="1400">
                <a:latin typeface="+mn-lt"/>
              </a:defRPr>
            </a:lvl4pPr>
            <a:lvl5pPr marL="1482725" indent="-222250">
              <a:buClr>
                <a:schemeClr val="tx1"/>
              </a:buClr>
              <a:buFont typeface="Century Gothic" panose="020B0502020202020204" pitchFamily="34" charset="0"/>
              <a:buChar char="•"/>
              <a:defRPr sz="1600"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1493" y="1444753"/>
            <a:ext cx="5504688" cy="4203944"/>
          </a:xfrm>
        </p:spPr>
        <p:txBody>
          <a:bodyPr/>
          <a:lstStyle>
            <a:lvl1pPr marL="287338" indent="-287338">
              <a:buClr>
                <a:schemeClr val="tx1"/>
              </a:buClr>
              <a:buFont typeface="Century Gothic" panose="020B0502020202020204" pitchFamily="34" charset="0"/>
              <a:buChar char="•"/>
              <a:defRPr sz="2000" baseline="0">
                <a:latin typeface="Century Gothic" panose="020B0502020202020204" pitchFamily="34" charset="0"/>
              </a:defRPr>
            </a:lvl1pPr>
            <a:lvl2pPr marL="625475" indent="-279400"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800" baseline="0">
                <a:latin typeface="Century Gothic" panose="020B0502020202020204" pitchFamily="34" charset="0"/>
              </a:defRPr>
            </a:lvl2pPr>
            <a:lvl3pPr marL="914400" indent="-230188">
              <a:buClr>
                <a:schemeClr val="tx1"/>
              </a:buClr>
              <a:buFont typeface="Century Gothic" panose="020B0502020202020204" pitchFamily="34" charset="0"/>
              <a:buChar char="•"/>
              <a:defRPr sz="1600">
                <a:latin typeface="+mn-lt"/>
              </a:defRPr>
            </a:lvl3pPr>
            <a:lvl4pPr marL="1144588" indent="-173038">
              <a:buClr>
                <a:schemeClr val="tx1"/>
              </a:buClr>
              <a:buFont typeface="Century Gothic" panose="020B0502020202020204" pitchFamily="34" charset="0"/>
              <a:buChar char="•"/>
              <a:defRPr sz="1400">
                <a:latin typeface="+mn-lt"/>
              </a:defRPr>
            </a:lvl4pPr>
            <a:lvl5pPr marL="1482725" indent="-222250">
              <a:buClr>
                <a:schemeClr val="tx1"/>
              </a:buClr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56">
            <a:extLst>
              <a:ext uri="{FF2B5EF4-FFF2-40B4-BE49-F238E27FC236}">
                <a16:creationId xmlns:a16="http://schemas.microsoft.com/office/drawing/2014/main" id="{0ED8B866-A29F-4437-842E-6B7908B2FB7D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057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274320"/>
            <a:ext cx="11504904" cy="535531"/>
          </a:xfrm>
        </p:spPr>
        <p:txBody>
          <a:bodyPr/>
          <a:lstStyle>
            <a:lvl1pPr>
              <a:lnSpc>
                <a:spcPct val="9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135" y="1444752"/>
            <a:ext cx="5507832" cy="821190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5" y="2275467"/>
            <a:ext cx="5507832" cy="3373229"/>
          </a:xfrm>
        </p:spPr>
        <p:txBody>
          <a:bodyPr/>
          <a:lstStyle>
            <a:lvl1pPr marL="230188" indent="-230188">
              <a:buClr>
                <a:schemeClr val="tx1"/>
              </a:buClr>
              <a:buFont typeface="Century Gothic" panose="020B0502020202020204" pitchFamily="34" charset="0"/>
              <a:buChar char="•"/>
              <a:defRPr sz="2000" baseline="0">
                <a:latin typeface="Century Gothic" panose="020B0502020202020204" pitchFamily="34" charset="0"/>
              </a:defRPr>
            </a:lvl1pPr>
            <a:lvl2pPr marL="625475" indent="-279400"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800">
                <a:latin typeface="+mn-lt"/>
              </a:defRPr>
            </a:lvl2pPr>
            <a:lvl3pPr marL="914400" indent="-230188">
              <a:buClr>
                <a:schemeClr val="tx1"/>
              </a:buClr>
              <a:buFont typeface="Century Gothic" panose="020B0502020202020204" pitchFamily="34" charset="0"/>
              <a:buChar char="•"/>
              <a:defRPr sz="1600" baseline="0">
                <a:latin typeface="Century Gothic" panose="020B0502020202020204" pitchFamily="34" charset="0"/>
              </a:defRPr>
            </a:lvl3pPr>
            <a:lvl4pPr marL="971550" indent="0">
              <a:buClr>
                <a:schemeClr val="tx1"/>
              </a:buClr>
              <a:buFont typeface="Century Gothic" panose="020B0502020202020204" pitchFamily="34" charset="0"/>
              <a:buNone/>
              <a:defRPr sz="1400">
                <a:latin typeface="+mn-lt"/>
              </a:defRPr>
            </a:lvl4pPr>
            <a:lvl5pPr marL="1482725" indent="-222250">
              <a:buClr>
                <a:schemeClr val="tx1"/>
              </a:buClr>
              <a:buFont typeface="Century Gothic" panose="020B0502020202020204" pitchFamily="34" charset="0"/>
              <a:buChar char="•"/>
              <a:defRPr sz="1600"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1493" y="1444752"/>
            <a:ext cx="5504688" cy="821190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1493" y="2275467"/>
            <a:ext cx="5504688" cy="3373229"/>
          </a:xfrm>
        </p:spPr>
        <p:txBody>
          <a:bodyPr/>
          <a:lstStyle>
            <a:lvl1pPr marL="287338" indent="-287338">
              <a:buClr>
                <a:schemeClr val="tx1"/>
              </a:buClr>
              <a:buFont typeface="Century Gothic" panose="020B0502020202020204" pitchFamily="34" charset="0"/>
              <a:buChar char="•"/>
              <a:defRPr sz="2000" baseline="0">
                <a:latin typeface="Century Gothic" panose="020B0502020202020204" pitchFamily="34" charset="0"/>
              </a:defRPr>
            </a:lvl1pPr>
            <a:lvl2pPr marL="625475" indent="-279400"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800" baseline="0">
                <a:latin typeface="Century Gothic" panose="020B0502020202020204" pitchFamily="34" charset="0"/>
              </a:defRPr>
            </a:lvl2pPr>
            <a:lvl3pPr marL="914400" indent="-230188">
              <a:buClr>
                <a:schemeClr val="tx1"/>
              </a:buClr>
              <a:buFont typeface="Century Gothic" panose="020B0502020202020204" pitchFamily="34" charset="0"/>
              <a:buChar char="•"/>
              <a:defRPr sz="1600">
                <a:latin typeface="+mn-lt"/>
              </a:defRPr>
            </a:lvl3pPr>
            <a:lvl4pPr marL="1144588" indent="-173038">
              <a:buClr>
                <a:schemeClr val="tx1"/>
              </a:buClr>
              <a:buFont typeface="Century Gothic" panose="020B0502020202020204" pitchFamily="34" charset="0"/>
              <a:buChar char="•"/>
              <a:defRPr sz="1400">
                <a:latin typeface="+mn-lt"/>
              </a:defRPr>
            </a:lvl4pPr>
            <a:lvl5pPr marL="1482725" indent="-222250">
              <a:buClr>
                <a:schemeClr val="tx1"/>
              </a:buClr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56">
            <a:extLst>
              <a:ext uri="{FF2B5EF4-FFF2-40B4-BE49-F238E27FC236}">
                <a16:creationId xmlns:a16="http://schemas.microsoft.com/office/drawing/2014/main" id="{0ED8B866-A29F-4437-842E-6B7908B2FB7D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993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274320"/>
            <a:ext cx="11425236" cy="535531"/>
          </a:xfrm>
        </p:spPr>
        <p:txBody>
          <a:bodyPr/>
          <a:lstStyle>
            <a:lvl1pPr>
              <a:lnSpc>
                <a:spcPct val="90000"/>
              </a:lnSpc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582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idebar an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9577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boxes with reverse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274320"/>
            <a:ext cx="11504904" cy="535531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696" y="1387602"/>
            <a:ext cx="5486400" cy="82119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tIns="91440" bIns="91440" anchor="b"/>
          <a:lstStyle>
            <a:lvl1pPr marL="0" indent="0">
              <a:lnSpc>
                <a:spcPct val="90000"/>
              </a:lnSpc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696" y="2208792"/>
            <a:ext cx="5486400" cy="3813071"/>
          </a:xfr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tx2"/>
                </a:gs>
              </a:gsLst>
              <a:lin ang="16200000" scaled="1"/>
              <a:tileRect/>
            </a:gradFill>
          </a:ln>
        </p:spPr>
        <p:txBody>
          <a:bodyPr tIns="91440" bIns="91440"/>
          <a:lstStyle>
            <a:lvl1pPr marL="227013" indent="-227013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800" baseline="0"/>
            </a:lvl1pPr>
            <a:lvl2pPr marL="514350" indent="-225425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600" baseline="0"/>
            </a:lvl2pPr>
            <a:lvl3pPr marL="742950" indent="-1730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4682" y="1387602"/>
            <a:ext cx="5486400" cy="82119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tIns="91440" bIns="91440" anchor="b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84682" y="2213184"/>
            <a:ext cx="5486400" cy="3813071"/>
          </a:xfr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tx2"/>
                </a:gs>
              </a:gsLst>
              <a:lin ang="16200000" scaled="1"/>
              <a:tileRect/>
            </a:gradFill>
          </a:ln>
        </p:spPr>
        <p:txBody>
          <a:bodyPr tIns="91440" bIns="91440"/>
          <a:lstStyle>
            <a:lvl1pPr marL="227013" indent="-227013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800"/>
            </a:lvl1pPr>
            <a:lvl2pPr marL="460375" indent="-171450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lang="en-US" sz="1600" kern="1200" baseline="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42950" indent="-1730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Clr>
                <a:schemeClr val="tx1"/>
              </a:buCl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Rectangle 256">
            <a:extLst>
              <a:ext uri="{FF2B5EF4-FFF2-40B4-BE49-F238E27FC236}">
                <a16:creationId xmlns:a16="http://schemas.microsoft.com/office/drawing/2014/main" id="{B764CAE0-734A-4D16-BDA1-3E43A810370F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61005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3 content boxes with reverse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274320"/>
            <a:ext cx="11504904" cy="535531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696" y="1387602"/>
            <a:ext cx="3610478" cy="82119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tIns="91440" bIns="91440" anchor="b"/>
          <a:lstStyle>
            <a:lvl1pPr marL="0" indent="0">
              <a:lnSpc>
                <a:spcPct val="90000"/>
              </a:lnSpc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696" y="2208792"/>
            <a:ext cx="3610478" cy="3813071"/>
          </a:xfr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tx2"/>
                </a:gs>
              </a:gsLst>
              <a:lin ang="16200000" scaled="1"/>
              <a:tileRect/>
            </a:gradFill>
          </a:ln>
        </p:spPr>
        <p:txBody>
          <a:bodyPr tIns="91440" bIns="91440"/>
          <a:lstStyle>
            <a:lvl1pPr marL="227013" indent="-227013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800" baseline="0"/>
            </a:lvl1pPr>
            <a:lvl2pPr marL="514350" indent="-225425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600" baseline="0"/>
            </a:lvl2pPr>
            <a:lvl3pPr marL="742950" indent="-1730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3659" y="1387602"/>
            <a:ext cx="3608418" cy="82119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tIns="91440" bIns="91440" anchor="b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3659" y="2213184"/>
            <a:ext cx="3608418" cy="3813071"/>
          </a:xfr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tx2"/>
                </a:gs>
              </a:gsLst>
              <a:lin ang="16200000" scaled="1"/>
              <a:tileRect/>
            </a:gradFill>
          </a:ln>
        </p:spPr>
        <p:txBody>
          <a:bodyPr tIns="91440" bIns="91440"/>
          <a:lstStyle>
            <a:lvl1pPr marL="227013" indent="-227013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800"/>
            </a:lvl1pPr>
            <a:lvl2pPr marL="460375" indent="-171450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lang="en-US" sz="1600" kern="1200" baseline="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42950" indent="-1730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Clr>
                <a:schemeClr val="tx1"/>
              </a:buCl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9D91D4C-0C90-4594-94C2-E939B6EF57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48562" y="1387602"/>
            <a:ext cx="3608418" cy="82119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tIns="91440" bIns="91440" anchor="b"/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E1A87D9D-30BD-4BC1-AB79-1F900F87185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48562" y="2213184"/>
            <a:ext cx="3608418" cy="3813071"/>
          </a:xfrm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tx2"/>
                </a:gs>
              </a:gsLst>
              <a:lin ang="16200000" scaled="1"/>
              <a:tileRect/>
            </a:gradFill>
          </a:ln>
        </p:spPr>
        <p:txBody>
          <a:bodyPr tIns="91440" bIns="91440"/>
          <a:lstStyle>
            <a:lvl1pPr marL="227013" indent="-227013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800"/>
            </a:lvl1pPr>
            <a:lvl2pPr marL="460375" indent="-171450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lang="en-US" sz="1600" kern="1200" baseline="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42950" indent="-1730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1400"/>
            </a:lvl3pPr>
            <a:lvl4pPr marL="1144588" indent="-173038">
              <a:lnSpc>
                <a:spcPct val="90000"/>
              </a:lnSpc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 sz="1200"/>
            </a:lvl4pPr>
            <a:lvl5pPr marL="1482725" indent="-222250">
              <a:lnSpc>
                <a:spcPct val="90000"/>
              </a:lnSpc>
              <a:buClr>
                <a:schemeClr val="tx1"/>
              </a:buCl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Rectangle 256">
            <a:extLst>
              <a:ext uri="{FF2B5EF4-FFF2-40B4-BE49-F238E27FC236}">
                <a16:creationId xmlns:a16="http://schemas.microsoft.com/office/drawing/2014/main" id="{B764CAE0-734A-4D16-BDA1-3E43A810370F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0490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k green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D81066A-C24A-4E74-9351-F12B6561E2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637" y="1083755"/>
            <a:ext cx="5486764" cy="421929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72F0CA-07C0-447D-AD25-74BF79400D69}"/>
              </a:ext>
            </a:extLst>
          </p:cNvPr>
          <p:cNvSpPr/>
          <p:nvPr userDrawn="1"/>
        </p:nvSpPr>
        <p:spPr>
          <a:xfrm>
            <a:off x="274320" y="1078992"/>
            <a:ext cx="5821680" cy="4221671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8079" y="1275788"/>
            <a:ext cx="5537405" cy="978729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3439C5-4231-ED43-91B8-86779195C116}"/>
              </a:ext>
            </a:extLst>
          </p:cNvPr>
          <p:cNvSpPr/>
          <p:nvPr userDrawn="1"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C7DBBE-95AC-E843-979A-A1A45836011E}"/>
              </a:ext>
            </a:extLst>
          </p:cNvPr>
          <p:cNvSpPr/>
          <p:nvPr userDrawn="1"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29C1BABE-6AB9-4F04-A1D6-C28E4287362E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325F85-B4F1-4C5D-855D-1BE9D9C179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10" name="Line 5">
            <a:extLst>
              <a:ext uri="{FF2B5EF4-FFF2-40B4-BE49-F238E27FC236}">
                <a16:creationId xmlns:a16="http://schemas.microsoft.com/office/drawing/2014/main" id="{1F888CF4-3F65-4925-A47B-614AFCDC055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004175" y="8223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4CFFE01C-81C8-4437-B6F5-7BAAEE5FC29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004175" y="8223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1B955FFA-B6F5-4CDD-940A-DB05FD68B7CA}"/>
              </a:ext>
            </a:extLst>
          </p:cNvPr>
          <p:cNvSpPr>
            <a:spLocks/>
          </p:cNvSpPr>
          <p:nvPr userDrawn="1"/>
        </p:nvSpPr>
        <p:spPr bwMode="auto">
          <a:xfrm>
            <a:off x="6096000" y="0"/>
            <a:ext cx="6096000" cy="6858000"/>
          </a:xfrm>
          <a:custGeom>
            <a:avLst/>
            <a:gdLst>
              <a:gd name="T0" fmla="*/ 3049 w 3388"/>
              <a:gd name="T1" fmla="*/ 0 h 3815"/>
              <a:gd name="T2" fmla="*/ 3049 w 3388"/>
              <a:gd name="T3" fmla="*/ 2951 h 3815"/>
              <a:gd name="T4" fmla="*/ 0 w 3388"/>
              <a:gd name="T5" fmla="*/ 2951 h 3815"/>
              <a:gd name="T6" fmla="*/ 0 w 3388"/>
              <a:gd name="T7" fmla="*/ 3815 h 3815"/>
              <a:gd name="T8" fmla="*/ 3388 w 3388"/>
              <a:gd name="T9" fmla="*/ 3815 h 3815"/>
              <a:gd name="T10" fmla="*/ 3388 w 3388"/>
              <a:gd name="T11" fmla="*/ 2969 h 3815"/>
              <a:gd name="T12" fmla="*/ 3388 w 3388"/>
              <a:gd name="T13" fmla="*/ 2951 h 3815"/>
              <a:gd name="T14" fmla="*/ 3388 w 3388"/>
              <a:gd name="T15" fmla="*/ 0 h 3815"/>
              <a:gd name="T16" fmla="*/ 3049 w 3388"/>
              <a:gd name="T17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88" h="3815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A5F7EA9-E5C6-4376-AC5D-CA0B1DA0A2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8079" y="2453317"/>
            <a:ext cx="5512904" cy="2690184"/>
          </a:xfrm>
        </p:spPr>
        <p:txBody>
          <a:bodyPr/>
          <a:lstStyle>
            <a:lvl1pPr marL="287338" indent="-2873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2000">
                <a:latin typeface="Century Gothic" panose="020B0502020202020204" pitchFamily="34" charset="0"/>
              </a:defRPr>
            </a:lvl1pPr>
            <a:lvl2pPr marL="688975" indent="-285750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>
              <a:defRPr sz="1600"/>
            </a:lvl3pPr>
            <a:lvl4pPr>
              <a:defRPr sz="1400"/>
            </a:lvl4pPr>
            <a:lvl5pPr marL="1482725" indent="-2222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41499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k green pictur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D81066A-C24A-4E74-9351-F12B6561E2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636" y="1078992"/>
            <a:ext cx="5487073" cy="4224052"/>
          </a:xfrm>
          <a:noFill/>
        </p:spPr>
        <p:txBody>
          <a:bodyPr/>
          <a:lstStyle>
            <a:lvl1pPr marL="0" indent="0">
              <a:buFont typeface="Century Gothic" panose="020B0502020202020204" pitchFamily="34" charset="0"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72F0CA-07C0-447D-AD25-74BF79400D69}"/>
              </a:ext>
            </a:extLst>
          </p:cNvPr>
          <p:cNvSpPr/>
          <p:nvPr userDrawn="1"/>
        </p:nvSpPr>
        <p:spPr>
          <a:xfrm>
            <a:off x="274320" y="1078992"/>
            <a:ext cx="5821680" cy="5779008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8079" y="1275788"/>
            <a:ext cx="5537405" cy="978729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8079" y="2453316"/>
            <a:ext cx="5512904" cy="4163291"/>
          </a:xfrm>
        </p:spPr>
        <p:txBody>
          <a:bodyPr/>
          <a:lstStyle>
            <a:lvl1pPr marL="287338" indent="-2873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2000">
                <a:latin typeface="Century Gothic" panose="020B0502020202020204" pitchFamily="34" charset="0"/>
              </a:defRPr>
            </a:lvl1pPr>
            <a:lvl2pPr marL="688975" indent="-285750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>
              <a:defRPr sz="1600"/>
            </a:lvl3pPr>
            <a:lvl4pPr>
              <a:defRPr sz="1400"/>
            </a:lvl4pPr>
            <a:lvl5pPr marL="1482725" indent="-2222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DB01C-0316-7441-9D7D-F96D7A49FEAC}"/>
              </a:ext>
            </a:extLst>
          </p:cNvPr>
          <p:cNvSpPr/>
          <p:nvPr userDrawn="1"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70CC82-0B8B-1D4B-9F0D-823E1CAB4A9C}"/>
              </a:ext>
            </a:extLst>
          </p:cNvPr>
          <p:cNvSpPr/>
          <p:nvPr userDrawn="1"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732E67AB-06CD-417E-82A6-C485A480337A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8EB24F-FBB3-41E8-90F7-B4AA493C6F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16" name="Freeform 7">
            <a:extLst>
              <a:ext uri="{FF2B5EF4-FFF2-40B4-BE49-F238E27FC236}">
                <a16:creationId xmlns:a16="http://schemas.microsoft.com/office/drawing/2014/main" id="{2A500EEB-73EC-4C16-8273-4ED5425DD64C}"/>
              </a:ext>
            </a:extLst>
          </p:cNvPr>
          <p:cNvSpPr>
            <a:spLocks/>
          </p:cNvSpPr>
          <p:nvPr userDrawn="1"/>
        </p:nvSpPr>
        <p:spPr bwMode="auto">
          <a:xfrm>
            <a:off x="6096000" y="0"/>
            <a:ext cx="6096000" cy="6858000"/>
          </a:xfrm>
          <a:custGeom>
            <a:avLst/>
            <a:gdLst>
              <a:gd name="T0" fmla="*/ 3049 w 3388"/>
              <a:gd name="T1" fmla="*/ 0 h 3815"/>
              <a:gd name="T2" fmla="*/ 3049 w 3388"/>
              <a:gd name="T3" fmla="*/ 2951 h 3815"/>
              <a:gd name="T4" fmla="*/ 0 w 3388"/>
              <a:gd name="T5" fmla="*/ 2951 h 3815"/>
              <a:gd name="T6" fmla="*/ 0 w 3388"/>
              <a:gd name="T7" fmla="*/ 3815 h 3815"/>
              <a:gd name="T8" fmla="*/ 3388 w 3388"/>
              <a:gd name="T9" fmla="*/ 3815 h 3815"/>
              <a:gd name="T10" fmla="*/ 3388 w 3388"/>
              <a:gd name="T11" fmla="*/ 2969 h 3815"/>
              <a:gd name="T12" fmla="*/ 3388 w 3388"/>
              <a:gd name="T13" fmla="*/ 2951 h 3815"/>
              <a:gd name="T14" fmla="*/ 3388 w 3388"/>
              <a:gd name="T15" fmla="*/ 0 h 3815"/>
              <a:gd name="T16" fmla="*/ 3049 w 3388"/>
              <a:gd name="T17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88" h="3815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302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k green picture layou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D81066A-C24A-4E74-9351-F12B6561E2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20595" y="1078989"/>
            <a:ext cx="7464186" cy="4226003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72F0CA-07C0-447D-AD25-74BF79400D69}"/>
              </a:ext>
            </a:extLst>
          </p:cNvPr>
          <p:cNvSpPr/>
          <p:nvPr userDrawn="1"/>
        </p:nvSpPr>
        <p:spPr>
          <a:xfrm>
            <a:off x="274321" y="1078991"/>
            <a:ext cx="3846274" cy="5779007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079" y="1275788"/>
            <a:ext cx="3576228" cy="979691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8079" y="2800350"/>
            <a:ext cx="3541945" cy="3816258"/>
          </a:xfrm>
        </p:spPr>
        <p:txBody>
          <a:bodyPr/>
          <a:lstStyle>
            <a:lvl1pPr marL="287338" indent="-287338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•"/>
              <a:defRPr sz="2000">
                <a:latin typeface="Century Gothic" panose="020B0502020202020204" pitchFamily="34" charset="0"/>
              </a:defRPr>
            </a:lvl1pPr>
            <a:lvl2pPr marL="688975" indent="-285750">
              <a:lnSpc>
                <a:spcPct val="90000"/>
              </a:lnSpc>
              <a:buClr>
                <a:schemeClr val="tx1"/>
              </a:buClr>
              <a:buFont typeface="Century Gothic" panose="020B050202020202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>
              <a:defRPr sz="1600"/>
            </a:lvl3pPr>
            <a:lvl4pPr>
              <a:defRPr sz="1400"/>
            </a:lvl4pPr>
            <a:lvl5pPr marL="1482725" indent="-2222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DB01C-0316-7441-9D7D-F96D7A49FEAC}"/>
              </a:ext>
            </a:extLst>
          </p:cNvPr>
          <p:cNvSpPr/>
          <p:nvPr userDrawn="1"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70CC82-0B8B-1D4B-9F0D-823E1CAB4A9C}"/>
              </a:ext>
            </a:extLst>
          </p:cNvPr>
          <p:cNvSpPr/>
          <p:nvPr userDrawn="1"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732E67AB-06CD-417E-82A6-C485A480337A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8EB24F-FBB3-41E8-90F7-B4AA493C6F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E0FFF716-AFC7-4054-A1F8-2C39C30731D0}"/>
              </a:ext>
            </a:extLst>
          </p:cNvPr>
          <p:cNvSpPr>
            <a:spLocks/>
          </p:cNvSpPr>
          <p:nvPr userDrawn="1"/>
        </p:nvSpPr>
        <p:spPr bwMode="auto">
          <a:xfrm>
            <a:off x="4120595" y="1"/>
            <a:ext cx="8071405" cy="6857998"/>
          </a:xfrm>
          <a:custGeom>
            <a:avLst/>
            <a:gdLst>
              <a:gd name="T0" fmla="*/ 4151 w 4490"/>
              <a:gd name="T1" fmla="*/ 0 h 3815"/>
              <a:gd name="T2" fmla="*/ 4151 w 4490"/>
              <a:gd name="T3" fmla="*/ 2951 h 3815"/>
              <a:gd name="T4" fmla="*/ 0 w 4490"/>
              <a:gd name="T5" fmla="*/ 2951 h 3815"/>
              <a:gd name="T6" fmla="*/ 0 w 4490"/>
              <a:gd name="T7" fmla="*/ 3815 h 3815"/>
              <a:gd name="T8" fmla="*/ 4490 w 4490"/>
              <a:gd name="T9" fmla="*/ 3815 h 3815"/>
              <a:gd name="T10" fmla="*/ 4490 w 4490"/>
              <a:gd name="T11" fmla="*/ 2969 h 3815"/>
              <a:gd name="T12" fmla="*/ 4490 w 4490"/>
              <a:gd name="T13" fmla="*/ 2951 h 3815"/>
              <a:gd name="T14" fmla="*/ 4490 w 4490"/>
              <a:gd name="T15" fmla="*/ 0 h 3815"/>
              <a:gd name="T16" fmla="*/ 4151 w 4490"/>
              <a:gd name="T17" fmla="*/ 0 h 3815"/>
              <a:gd name="T18" fmla="*/ 4151 w 4490"/>
              <a:gd name="T19" fmla="*/ 0 h 3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90" h="3815">
                <a:moveTo>
                  <a:pt x="4151" y="0"/>
                </a:moveTo>
                <a:lnTo>
                  <a:pt x="4151" y="2951"/>
                </a:lnTo>
                <a:lnTo>
                  <a:pt x="0" y="2951"/>
                </a:lnTo>
                <a:lnTo>
                  <a:pt x="0" y="3815"/>
                </a:lnTo>
                <a:lnTo>
                  <a:pt x="4490" y="3815"/>
                </a:lnTo>
                <a:lnTo>
                  <a:pt x="4490" y="2969"/>
                </a:lnTo>
                <a:lnTo>
                  <a:pt x="4490" y="2951"/>
                </a:lnTo>
                <a:lnTo>
                  <a:pt x="4490" y="0"/>
                </a:lnTo>
                <a:lnTo>
                  <a:pt x="4151" y="0"/>
                </a:lnTo>
                <a:lnTo>
                  <a:pt x="4151" y="0"/>
                </a:lnTo>
                <a:close/>
              </a:path>
            </a:pathLst>
          </a:custGeom>
          <a:solidFill>
            <a:srgbClr val="4C88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22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D81066A-C24A-4E74-9351-F12B6561E2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4320" y="2381"/>
            <a:ext cx="11312843" cy="6342021"/>
          </a:xfrm>
          <a:noFill/>
          <a:ln>
            <a:noFill/>
          </a:ln>
        </p:spPr>
        <p:txBody>
          <a:bodyPr/>
          <a:lstStyle>
            <a:lvl1pPr marL="0" indent="0">
              <a:buFont typeface="Century Gothic" panose="020B0502020202020204" pitchFamily="34" charset="0"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9" y="274320"/>
            <a:ext cx="11000232" cy="535531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Rectangle 256">
            <a:extLst>
              <a:ext uri="{FF2B5EF4-FFF2-40B4-BE49-F238E27FC236}">
                <a16:creationId xmlns:a16="http://schemas.microsoft.com/office/drawing/2014/main" id="{50787286-CD5D-43D9-B8DA-70C3358DC82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010283" y="647700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0"/>
              </a:rPr>
              <a:t> </a:t>
            </a:r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D938724D-E109-43B4-9560-1552E26DB04A}"/>
              </a:ext>
            </a:extLst>
          </p:cNvPr>
          <p:cNvSpPr>
            <a:spLocks/>
          </p:cNvSpPr>
          <p:nvPr userDrawn="1"/>
        </p:nvSpPr>
        <p:spPr bwMode="auto">
          <a:xfrm>
            <a:off x="6026150" y="0"/>
            <a:ext cx="6165850" cy="6858000"/>
          </a:xfrm>
          <a:custGeom>
            <a:avLst/>
            <a:gdLst>
              <a:gd name="T0" fmla="*/ 3502 w 3884"/>
              <a:gd name="T1" fmla="*/ 0 h 4320"/>
              <a:gd name="T2" fmla="*/ 3502 w 3884"/>
              <a:gd name="T3" fmla="*/ 3998 h 4320"/>
              <a:gd name="T4" fmla="*/ 0 w 3884"/>
              <a:gd name="T5" fmla="*/ 3998 h 4320"/>
              <a:gd name="T6" fmla="*/ 0 w 3884"/>
              <a:gd name="T7" fmla="*/ 4320 h 4320"/>
              <a:gd name="T8" fmla="*/ 3502 w 3884"/>
              <a:gd name="T9" fmla="*/ 4320 h 4320"/>
              <a:gd name="T10" fmla="*/ 3884 w 3884"/>
              <a:gd name="T11" fmla="*/ 4320 h 4320"/>
              <a:gd name="T12" fmla="*/ 3884 w 3884"/>
              <a:gd name="T13" fmla="*/ 3998 h 4320"/>
              <a:gd name="T14" fmla="*/ 3884 w 3884"/>
              <a:gd name="T15" fmla="*/ 0 h 4320"/>
              <a:gd name="T16" fmla="*/ 3502 w 3884"/>
              <a:gd name="T17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84" h="4320">
                <a:moveTo>
                  <a:pt x="3502" y="0"/>
                </a:moveTo>
                <a:lnTo>
                  <a:pt x="3502" y="3998"/>
                </a:lnTo>
                <a:lnTo>
                  <a:pt x="0" y="3998"/>
                </a:lnTo>
                <a:lnTo>
                  <a:pt x="0" y="4320"/>
                </a:lnTo>
                <a:lnTo>
                  <a:pt x="3502" y="4320"/>
                </a:lnTo>
                <a:lnTo>
                  <a:pt x="3884" y="4320"/>
                </a:lnTo>
                <a:lnTo>
                  <a:pt x="3884" y="3998"/>
                </a:lnTo>
                <a:lnTo>
                  <a:pt x="3884" y="0"/>
                </a:lnTo>
                <a:lnTo>
                  <a:pt x="3502" y="0"/>
                </a:lnTo>
                <a:close/>
              </a:path>
            </a:pathLst>
          </a:custGeom>
          <a:solidFill>
            <a:srgbClr val="408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00E375-D0D6-466C-A383-E914B5C8AE5A}"/>
              </a:ext>
            </a:extLst>
          </p:cNvPr>
          <p:cNvSpPr/>
          <p:nvPr userDrawn="1"/>
        </p:nvSpPr>
        <p:spPr>
          <a:xfrm>
            <a:off x="0" y="6344402"/>
            <a:ext cx="274320" cy="510909"/>
          </a:xfrm>
          <a:prstGeom prst="rect">
            <a:avLst/>
          </a:prstGeom>
          <a:solidFill>
            <a:srgbClr val="397D5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D090841D-81E2-4E83-8067-E18C5C3AF8FF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3AC615-0875-4C80-B019-11A28EDCB6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129" y="6477000"/>
            <a:ext cx="1088136" cy="26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607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2 section science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DC80716-D7F2-40BD-B894-87B7C5521D93}"/>
              </a:ext>
            </a:extLst>
          </p:cNvPr>
          <p:cNvSpPr/>
          <p:nvPr userDrawn="1"/>
        </p:nvSpPr>
        <p:spPr>
          <a:xfrm>
            <a:off x="274320" y="1412106"/>
            <a:ext cx="5840589" cy="52934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72E6C0-3363-4678-BD7B-839981CFEC1B}"/>
              </a:ext>
            </a:extLst>
          </p:cNvPr>
          <p:cNvSpPr/>
          <p:nvPr userDrawn="1"/>
        </p:nvSpPr>
        <p:spPr>
          <a:xfrm>
            <a:off x="6351411" y="1412106"/>
            <a:ext cx="5840589" cy="52934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431D86-B4F2-4178-9479-C223044E67E1}"/>
              </a:ext>
            </a:extLst>
          </p:cNvPr>
          <p:cNvSpPr/>
          <p:nvPr userDrawn="1"/>
        </p:nvSpPr>
        <p:spPr>
          <a:xfrm>
            <a:off x="274319" y="948037"/>
            <a:ext cx="5840589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81C044-83B1-4BEC-A2A0-51CA4BF72CE4}"/>
              </a:ext>
            </a:extLst>
          </p:cNvPr>
          <p:cNvSpPr/>
          <p:nvPr userDrawn="1"/>
        </p:nvSpPr>
        <p:spPr>
          <a:xfrm>
            <a:off x="6351411" y="948037"/>
            <a:ext cx="5840589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568B759-9EAF-4F57-B09C-A71D9D5B516C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74318" y="1005840"/>
            <a:ext cx="5821682" cy="406266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AD586E-7375-402D-9BA8-7C07EB8240E8}"/>
              </a:ext>
            </a:extLst>
          </p:cNvPr>
          <p:cNvSpPr>
            <a:spLocks noGrp="1"/>
          </p:cNvSpPr>
          <p:nvPr userDrawn="1">
            <p:ph sz="half" idx="2"/>
          </p:nvPr>
        </p:nvSpPr>
        <p:spPr>
          <a:xfrm>
            <a:off x="312234" y="1527048"/>
            <a:ext cx="5783766" cy="4110352"/>
          </a:xfrm>
          <a:ln w="12700">
            <a:noFill/>
          </a:ln>
        </p:spPr>
        <p:txBody>
          <a:bodyPr tIns="45720" bIns="9144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 marL="1482725" indent="-222250"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A49DFE2-905F-42AB-9CE1-CCCD2BB9576B}"/>
              </a:ext>
            </a:extLst>
          </p:cNvPr>
          <p:cNvSpPr>
            <a:spLocks noGrp="1"/>
          </p:cNvSpPr>
          <p:nvPr userDrawn="1">
            <p:ph type="body" sz="quarter" idx="3"/>
          </p:nvPr>
        </p:nvSpPr>
        <p:spPr>
          <a:xfrm>
            <a:off x="6351410" y="1005840"/>
            <a:ext cx="5840589" cy="406266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AF1555CB-15BC-4181-B741-965A19E6BA91}"/>
              </a:ext>
            </a:extLst>
          </p:cNvPr>
          <p:cNvSpPr>
            <a:spLocks noGrp="1"/>
          </p:cNvSpPr>
          <p:nvPr userDrawn="1">
            <p:ph sz="quarter" idx="4"/>
          </p:nvPr>
        </p:nvSpPr>
        <p:spPr>
          <a:xfrm>
            <a:off x="6351411" y="1527048"/>
            <a:ext cx="5785575" cy="4110352"/>
          </a:xfrm>
          <a:ln w="12700">
            <a:noFill/>
          </a:ln>
        </p:spPr>
        <p:txBody>
          <a:bodyPr tIns="45720" bIns="9144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 marL="1482725" indent="-2222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1CB721-FBCB-4DC7-9C2A-15C90E984F90}"/>
              </a:ext>
            </a:extLst>
          </p:cNvPr>
          <p:cNvSpPr/>
          <p:nvPr userDrawn="1"/>
        </p:nvSpPr>
        <p:spPr>
          <a:xfrm>
            <a:off x="1773669" y="320040"/>
            <a:ext cx="10418331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FDFB4D2-95C3-44FB-85E0-FB87B96D0DC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773668" y="365857"/>
            <a:ext cx="10363317" cy="406265"/>
          </a:xfrm>
        </p:spPr>
        <p:txBody>
          <a:bodyPr/>
          <a:lstStyle>
            <a:lvl1pPr>
              <a:defRPr sz="24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649F31-1D58-F243-85FD-74506880A336}"/>
              </a:ext>
            </a:extLst>
          </p:cNvPr>
          <p:cNvSpPr/>
          <p:nvPr userDrawn="1"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038521-D276-4049-A4BA-98C27C6D8256}"/>
              </a:ext>
            </a:extLst>
          </p:cNvPr>
          <p:cNvSpPr/>
          <p:nvPr userDrawn="1"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3F2F0951-0E05-43D4-AB3F-73E5681F4301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EC139F-C616-4896-A830-8F9FC5B2C2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23" name="Rectangle 256">
            <a:extLst>
              <a:ext uri="{FF2B5EF4-FFF2-40B4-BE49-F238E27FC236}">
                <a16:creationId xmlns:a16="http://schemas.microsoft.com/office/drawing/2014/main" id="{D8ACAAE2-A531-47BE-8F4F-FFC18507ED0B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3747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section science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DC80716-D7F2-40BD-B894-87B7C5521D93}"/>
              </a:ext>
            </a:extLst>
          </p:cNvPr>
          <p:cNvSpPr/>
          <p:nvPr userDrawn="1"/>
        </p:nvSpPr>
        <p:spPr>
          <a:xfrm>
            <a:off x="274320" y="1412106"/>
            <a:ext cx="3868138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72E6C0-3363-4678-BD7B-839981CFEC1B}"/>
              </a:ext>
            </a:extLst>
          </p:cNvPr>
          <p:cNvSpPr/>
          <p:nvPr userDrawn="1"/>
        </p:nvSpPr>
        <p:spPr>
          <a:xfrm>
            <a:off x="4299090" y="1412106"/>
            <a:ext cx="3867912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4C995C-9C57-406C-A69D-7613F8F47165}"/>
              </a:ext>
            </a:extLst>
          </p:cNvPr>
          <p:cNvSpPr/>
          <p:nvPr userDrawn="1"/>
        </p:nvSpPr>
        <p:spPr>
          <a:xfrm>
            <a:off x="8323860" y="1412106"/>
            <a:ext cx="3868138" cy="5224413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431D86-B4F2-4178-9479-C223044E67E1}"/>
              </a:ext>
            </a:extLst>
          </p:cNvPr>
          <p:cNvSpPr/>
          <p:nvPr userDrawn="1"/>
        </p:nvSpPr>
        <p:spPr>
          <a:xfrm>
            <a:off x="274320" y="948037"/>
            <a:ext cx="3866758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81C044-83B1-4BEC-A2A0-51CA4BF72CE4}"/>
              </a:ext>
            </a:extLst>
          </p:cNvPr>
          <p:cNvSpPr/>
          <p:nvPr userDrawn="1"/>
        </p:nvSpPr>
        <p:spPr>
          <a:xfrm>
            <a:off x="4299089" y="948037"/>
            <a:ext cx="3867912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26A7F5-6E08-49A4-A894-85B35B49A075}"/>
              </a:ext>
            </a:extLst>
          </p:cNvPr>
          <p:cNvSpPr/>
          <p:nvPr userDrawn="1"/>
        </p:nvSpPr>
        <p:spPr>
          <a:xfrm>
            <a:off x="8323860" y="948037"/>
            <a:ext cx="3885931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568B759-9EAF-4F57-B09C-A71D9D5B516C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70178" y="1005840"/>
            <a:ext cx="3870672" cy="406266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AD586E-7375-402D-9BA8-7C07EB8240E8}"/>
              </a:ext>
            </a:extLst>
          </p:cNvPr>
          <p:cNvSpPr>
            <a:spLocks noGrp="1"/>
          </p:cNvSpPr>
          <p:nvPr userDrawn="1">
            <p:ph sz="half" idx="2"/>
          </p:nvPr>
        </p:nvSpPr>
        <p:spPr>
          <a:xfrm>
            <a:off x="312234" y="1527048"/>
            <a:ext cx="3791415" cy="4110352"/>
          </a:xfrm>
          <a:ln w="12700">
            <a:noFill/>
          </a:ln>
        </p:spPr>
        <p:txBody>
          <a:bodyPr tIns="45720" bIns="9144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 marL="1482725" indent="-222250"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A49DFE2-905F-42AB-9CE1-CCCD2BB9576B}"/>
              </a:ext>
            </a:extLst>
          </p:cNvPr>
          <p:cNvSpPr>
            <a:spLocks noGrp="1"/>
          </p:cNvSpPr>
          <p:nvPr userDrawn="1">
            <p:ph type="body" sz="quarter" idx="3"/>
          </p:nvPr>
        </p:nvSpPr>
        <p:spPr>
          <a:xfrm>
            <a:off x="4297709" y="1005840"/>
            <a:ext cx="3866758" cy="406266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AF1555CB-15BC-4181-B741-965A19E6BA91}"/>
              </a:ext>
            </a:extLst>
          </p:cNvPr>
          <p:cNvSpPr>
            <a:spLocks noGrp="1"/>
          </p:cNvSpPr>
          <p:nvPr userDrawn="1">
            <p:ph sz="quarter" idx="4"/>
          </p:nvPr>
        </p:nvSpPr>
        <p:spPr>
          <a:xfrm>
            <a:off x="4295175" y="1527048"/>
            <a:ext cx="3860800" cy="4110352"/>
          </a:xfrm>
          <a:ln w="12700">
            <a:noFill/>
          </a:ln>
        </p:spPr>
        <p:txBody>
          <a:bodyPr tIns="45720" bIns="9144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 marL="1482725" indent="-2222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1FF3A3E-474D-4F1F-9B01-4428215B857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8319718" y="1005840"/>
            <a:ext cx="3885931" cy="406266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EDB166DE-69D8-4E82-A304-FF11CEBD23D7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8319719" y="1527048"/>
            <a:ext cx="3768204" cy="4110352"/>
          </a:xfrm>
          <a:ln w="12700">
            <a:noFill/>
          </a:ln>
        </p:spPr>
        <p:txBody>
          <a:bodyPr tIns="45720" bIns="9144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 marL="1482725" indent="-2222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1CB721-FBCB-4DC7-9C2A-15C90E984F90}"/>
              </a:ext>
            </a:extLst>
          </p:cNvPr>
          <p:cNvSpPr/>
          <p:nvPr userDrawn="1"/>
        </p:nvSpPr>
        <p:spPr>
          <a:xfrm>
            <a:off x="1773669" y="320040"/>
            <a:ext cx="10418331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FDFB4D2-95C3-44FB-85E0-FB87B96D0DC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773668" y="365857"/>
            <a:ext cx="10418329" cy="406265"/>
          </a:xfrm>
        </p:spPr>
        <p:txBody>
          <a:bodyPr/>
          <a:lstStyle>
            <a:lvl1pPr>
              <a:defRPr sz="24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8BD24-68BF-4642-BFC4-180B70D413B8}"/>
              </a:ext>
            </a:extLst>
          </p:cNvPr>
          <p:cNvSpPr/>
          <p:nvPr userDrawn="1"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DDBDFD-39A6-0043-BAD4-065FAFF6A9DA}"/>
              </a:ext>
            </a:extLst>
          </p:cNvPr>
          <p:cNvSpPr/>
          <p:nvPr userDrawn="1"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20E070A-FF02-490F-91F7-767E82133AD8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3BD6692-283A-4A7F-AE4C-0175D48F79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129" y="456244"/>
            <a:ext cx="1088136" cy="261860"/>
          </a:xfrm>
          <a:prstGeom prst="rect">
            <a:avLst/>
          </a:prstGeom>
        </p:spPr>
      </p:pic>
      <p:sp>
        <p:nvSpPr>
          <p:cNvPr id="26" name="Rectangle 256">
            <a:extLst>
              <a:ext uri="{FF2B5EF4-FFF2-40B4-BE49-F238E27FC236}">
                <a16:creationId xmlns:a16="http://schemas.microsoft.com/office/drawing/2014/main" id="{7312AC61-61BF-4F96-99DC-555BD73A05FA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28812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3 section science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DC80716-D7F2-40BD-B894-87B7C5521D93}"/>
              </a:ext>
            </a:extLst>
          </p:cNvPr>
          <p:cNvSpPr/>
          <p:nvPr userDrawn="1"/>
        </p:nvSpPr>
        <p:spPr>
          <a:xfrm>
            <a:off x="274319" y="1434925"/>
            <a:ext cx="2874807" cy="52015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431D86-B4F2-4178-9479-C223044E67E1}"/>
              </a:ext>
            </a:extLst>
          </p:cNvPr>
          <p:cNvSpPr/>
          <p:nvPr userDrawn="1"/>
        </p:nvSpPr>
        <p:spPr>
          <a:xfrm>
            <a:off x="274320" y="948037"/>
            <a:ext cx="2874807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72E6C0-3363-4678-BD7B-839981CFEC1B}"/>
              </a:ext>
            </a:extLst>
          </p:cNvPr>
          <p:cNvSpPr/>
          <p:nvPr userDrawn="1"/>
        </p:nvSpPr>
        <p:spPr>
          <a:xfrm>
            <a:off x="3288610" y="1434925"/>
            <a:ext cx="2874807" cy="52015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81C044-83B1-4BEC-A2A0-51CA4BF72CE4}"/>
              </a:ext>
            </a:extLst>
          </p:cNvPr>
          <p:cNvSpPr/>
          <p:nvPr userDrawn="1"/>
        </p:nvSpPr>
        <p:spPr>
          <a:xfrm>
            <a:off x="3288610" y="948037"/>
            <a:ext cx="2874807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4C995C-9C57-406C-A69D-7613F8F47165}"/>
              </a:ext>
            </a:extLst>
          </p:cNvPr>
          <p:cNvSpPr/>
          <p:nvPr userDrawn="1"/>
        </p:nvSpPr>
        <p:spPr>
          <a:xfrm>
            <a:off x="6302900" y="1434925"/>
            <a:ext cx="2874807" cy="52015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26A7F5-6E08-49A4-A894-85B35B49A075}"/>
              </a:ext>
            </a:extLst>
          </p:cNvPr>
          <p:cNvSpPr/>
          <p:nvPr userDrawn="1"/>
        </p:nvSpPr>
        <p:spPr>
          <a:xfrm>
            <a:off x="6302901" y="948037"/>
            <a:ext cx="2874807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5F09E4-91A6-437A-BED4-ED7995D473E7}"/>
              </a:ext>
            </a:extLst>
          </p:cNvPr>
          <p:cNvSpPr/>
          <p:nvPr userDrawn="1"/>
        </p:nvSpPr>
        <p:spPr>
          <a:xfrm>
            <a:off x="9317192" y="1434925"/>
            <a:ext cx="2874807" cy="5201594"/>
          </a:xfrm>
          <a:prstGeom prst="rect">
            <a:avLst/>
          </a:prstGeom>
          <a:gradFill flip="none" rotWithShape="1">
            <a:gsLst>
              <a:gs pos="52000">
                <a:schemeClr val="bg1">
                  <a:lumMod val="95000"/>
                </a:schemeClr>
              </a:gs>
              <a:gs pos="0">
                <a:schemeClr val="bg2">
                  <a:alpha val="0"/>
                </a:schemeClr>
              </a:gs>
              <a:gs pos="100000">
                <a:srgbClr val="CFCFCF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92D3D3-2A2D-4482-B3F5-B0CBCD39D93A}"/>
              </a:ext>
            </a:extLst>
          </p:cNvPr>
          <p:cNvSpPr/>
          <p:nvPr userDrawn="1"/>
        </p:nvSpPr>
        <p:spPr>
          <a:xfrm>
            <a:off x="9317193" y="948037"/>
            <a:ext cx="2874807" cy="48688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568B759-9EAF-4F57-B09C-A71D9D5B516C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74319" y="1005840"/>
            <a:ext cx="2861458" cy="406266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AD586E-7375-402D-9BA8-7C07EB8240E8}"/>
              </a:ext>
            </a:extLst>
          </p:cNvPr>
          <p:cNvSpPr>
            <a:spLocks noGrp="1"/>
          </p:cNvSpPr>
          <p:nvPr userDrawn="1">
            <p:ph sz="half" idx="2"/>
          </p:nvPr>
        </p:nvSpPr>
        <p:spPr>
          <a:xfrm>
            <a:off x="274318" y="1527048"/>
            <a:ext cx="2861459" cy="5010912"/>
          </a:xfrm>
          <a:ln w="12700">
            <a:noFill/>
          </a:ln>
        </p:spPr>
        <p:txBody>
          <a:bodyPr tIns="45720" bIns="9144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 marL="1482725" indent="-222250"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A49DFE2-905F-42AB-9CE1-CCCD2BB9576B}"/>
              </a:ext>
            </a:extLst>
          </p:cNvPr>
          <p:cNvSpPr>
            <a:spLocks noGrp="1"/>
          </p:cNvSpPr>
          <p:nvPr userDrawn="1">
            <p:ph type="body" sz="quarter" idx="3"/>
          </p:nvPr>
        </p:nvSpPr>
        <p:spPr>
          <a:xfrm>
            <a:off x="3288609" y="1005840"/>
            <a:ext cx="2874807" cy="406266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AF1555CB-15BC-4181-B741-965A19E6BA91}"/>
              </a:ext>
            </a:extLst>
          </p:cNvPr>
          <p:cNvSpPr>
            <a:spLocks noGrp="1"/>
          </p:cNvSpPr>
          <p:nvPr userDrawn="1">
            <p:ph sz="quarter" idx="4"/>
          </p:nvPr>
        </p:nvSpPr>
        <p:spPr>
          <a:xfrm>
            <a:off x="3288609" y="1527048"/>
            <a:ext cx="2874807" cy="5010912"/>
          </a:xfrm>
          <a:ln w="12700">
            <a:noFill/>
          </a:ln>
        </p:spPr>
        <p:txBody>
          <a:bodyPr tIns="45720" bIns="9144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 marL="1482725" indent="-2222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1FF3A3E-474D-4F1F-9B01-4428215B857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312952" y="1005840"/>
            <a:ext cx="2864755" cy="406266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EDB166DE-69D8-4E82-A304-FF11CEBD23D7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6312952" y="1527048"/>
            <a:ext cx="2864755" cy="5010912"/>
          </a:xfrm>
          <a:ln w="12700">
            <a:noFill/>
          </a:ln>
        </p:spPr>
        <p:txBody>
          <a:bodyPr tIns="45720" bIns="9144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 marL="1482725" indent="-2222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1CB721-FBCB-4DC7-9C2A-15C90E984F90}"/>
              </a:ext>
            </a:extLst>
          </p:cNvPr>
          <p:cNvSpPr/>
          <p:nvPr userDrawn="1"/>
        </p:nvSpPr>
        <p:spPr>
          <a:xfrm>
            <a:off x="1773669" y="320040"/>
            <a:ext cx="10418331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FDFB4D2-95C3-44FB-85E0-FB87B96D0DC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773669" y="365857"/>
            <a:ext cx="10418330" cy="406265"/>
          </a:xfrm>
        </p:spPr>
        <p:txBody>
          <a:bodyPr/>
          <a:lstStyle>
            <a:lvl1pPr>
              <a:defRPr sz="24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8BD24-68BF-4642-BFC4-180B70D413B8}"/>
              </a:ext>
            </a:extLst>
          </p:cNvPr>
          <p:cNvSpPr/>
          <p:nvPr userDrawn="1"/>
        </p:nvSpPr>
        <p:spPr>
          <a:xfrm>
            <a:off x="0" y="320040"/>
            <a:ext cx="274320" cy="51090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DDBDFD-39A6-0043-BAD4-065FAFF6A9DA}"/>
              </a:ext>
            </a:extLst>
          </p:cNvPr>
          <p:cNvSpPr/>
          <p:nvPr userDrawn="1"/>
        </p:nvSpPr>
        <p:spPr>
          <a:xfrm>
            <a:off x="274320" y="320040"/>
            <a:ext cx="1412673" cy="51090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20E070A-FF02-490F-91F7-767E82133AD8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757D323C-D2DD-42C4-81D6-6224EE035EE4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9317190" y="1005840"/>
            <a:ext cx="2864755" cy="406266"/>
          </a:xfrm>
          <a:noFill/>
          <a:ln w="12700">
            <a:noFill/>
          </a:ln>
        </p:spPr>
        <p:txBody>
          <a:bodyPr tIns="91440" bIns="91440" anchor="ctr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6D6262AB-5413-4C3B-B769-39B07A6E5626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9317190" y="1527048"/>
            <a:ext cx="2864755" cy="5010912"/>
          </a:xfrm>
          <a:ln w="12700">
            <a:noFill/>
          </a:ln>
        </p:spPr>
        <p:txBody>
          <a:bodyPr tIns="45720" bIns="9144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 marL="1482725" indent="-2222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5E4A85E-2D34-4FC1-90CE-1459D5681F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604" y="441571"/>
            <a:ext cx="1093661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5607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VTO Annual Merit Review  MAT-xxx</a:t>
            </a:r>
            <a:endParaRPr lang="en-US" sz="105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2BB958-42BD-1C40-9A6A-38B7757BE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12054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119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7DE3-054F-7A47-99F2-E8A17885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B9E82-DC99-BE48-A446-A24F20D34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46B1E-6C81-6247-BE7F-9289101FE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VTO Annual Merit Review  MAT-xxx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96D35-115D-3A44-AAB4-C8FF0E032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2021 vehicles technology office annual merit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990E2-02D3-7240-A5D3-56278BE6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E6A92-534C-B94A-9A05-6065802AA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01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29768" y="274320"/>
            <a:ext cx="114300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1614" y="1650029"/>
            <a:ext cx="11419468" cy="404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 flipH="1">
            <a:off x="-4391" y="6626132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B0D07-6BED-A646-84B4-4749F06D6579}"/>
              </a:ext>
            </a:extLst>
          </p:cNvPr>
          <p:cNvSpPr/>
          <p:nvPr userDrawn="1"/>
        </p:nvSpPr>
        <p:spPr>
          <a:xfrm>
            <a:off x="0" y="320040"/>
            <a:ext cx="274320" cy="653795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5832D77F-AA48-5846-ACCE-C0EB6A92350A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-4391" y="6616607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90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AC3F58-DA01-43AC-9BFD-B0FCF242EE72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129" y="6477000"/>
            <a:ext cx="1088136" cy="261860"/>
          </a:xfrm>
          <a:prstGeom prst="rect">
            <a:avLst/>
          </a:prstGeom>
        </p:spPr>
      </p:pic>
      <p:sp>
        <p:nvSpPr>
          <p:cNvPr id="10" name="Rectangle 256">
            <a:extLst>
              <a:ext uri="{FF2B5EF4-FFF2-40B4-BE49-F238E27FC236}">
                <a16:creationId xmlns:a16="http://schemas.microsoft.com/office/drawing/2014/main" id="{323F2AC7-81B7-4181-8965-07F2D3F8B684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010282" y="6583680"/>
            <a:ext cx="3860800" cy="182562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BFBFBF"/>
                </a:solidFill>
                <a:latin typeface="+mn-lt"/>
                <a:cs typeface="Arial" pitchFamily="34" charset="0"/>
              </a:rPr>
              <a:t> Open slide master to edit</a:t>
            </a:r>
          </a:p>
        </p:txBody>
      </p:sp>
    </p:spTree>
    <p:extLst>
      <p:ext uri="{BB962C8B-B14F-4D97-AF65-F5344CB8AC3E}">
        <p14:creationId xmlns:p14="http://schemas.microsoft.com/office/powerpoint/2010/main" val="2725756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32" r:id="rId2"/>
    <p:sldLayoutId id="2147483716" r:id="rId3"/>
    <p:sldLayoutId id="2147483663" r:id="rId4"/>
    <p:sldLayoutId id="2147483758" r:id="rId5"/>
    <p:sldLayoutId id="2147483736" r:id="rId6"/>
    <p:sldLayoutId id="2147483759" r:id="rId7"/>
    <p:sldLayoutId id="2147483685" r:id="rId8"/>
    <p:sldLayoutId id="2147483757" r:id="rId9"/>
    <p:sldLayoutId id="2147483667" r:id="rId10"/>
    <p:sldLayoutId id="2147483725" r:id="rId11"/>
    <p:sldLayoutId id="2147483756" r:id="rId12"/>
    <p:sldLayoutId id="2147483678" r:id="rId13"/>
    <p:sldLayoutId id="2147483760" r:id="rId14"/>
    <p:sldLayoutId id="2147483761" r:id="rId15"/>
    <p:sldLayoutId id="2147483762" r:id="rId16"/>
    <p:sldLayoutId id="2147483763" r:id="rId17"/>
    <p:sldLayoutId id="2147483764" r:id="rId18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9pPr>
    </p:titleStyle>
    <p:bodyStyle>
      <a:lvl1pPr marL="287338" indent="-287338" algn="l" rtl="0" eaLnBrk="1" fontAlgn="base" hangingPunct="1">
        <a:lnSpc>
          <a:spcPct val="90000"/>
        </a:lnSpc>
        <a:spcBef>
          <a:spcPts val="1400"/>
        </a:spcBef>
        <a:spcAft>
          <a:spcPct val="0"/>
        </a:spcAft>
        <a:buClr>
          <a:schemeClr val="tx1"/>
        </a:buClr>
        <a:buSzPct val="90000"/>
        <a:buFont typeface="Century Gothic" panose="020B0502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8975" indent="-28575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1"/>
        </a:buClr>
        <a:buSzPct val="90000"/>
        <a:buFont typeface="Century Gothic" panose="020B0502020202020204" pitchFamily="34" charset="0"/>
        <a:buChar char="–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030288" indent="-28575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1"/>
        </a:buClr>
        <a:buSzPct val="90000"/>
        <a:buFont typeface="Century Gothic" panose="020B0502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144588" indent="-1730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1"/>
        </a:buClr>
        <a:buFont typeface="Arial" charset="0"/>
        <a:buChar char="–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482725" indent="-222250" algn="l" rtl="0" eaLnBrk="1" fontAlgn="base" hangingPunct="1">
        <a:lnSpc>
          <a:spcPct val="90000"/>
        </a:lnSpc>
        <a:spcBef>
          <a:spcPts val="600"/>
        </a:spcBef>
        <a:spcAft>
          <a:spcPct val="0"/>
        </a:spcAft>
        <a:buClr>
          <a:schemeClr val="tx1"/>
        </a:buClr>
        <a:buFont typeface="Arial" charset="0"/>
        <a:buChar char="»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2BBCF-E526-8706-B838-B13071335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E6B66A1-0963-DB7D-374D-8F45BE85E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735" y="1421106"/>
            <a:ext cx="10476051" cy="2308324"/>
          </a:xfrm>
        </p:spPr>
        <p:txBody>
          <a:bodyPr/>
          <a:lstStyle/>
          <a:p>
            <a:r>
              <a:rPr lang="en-US" dirty="0"/>
              <a:t>Learning MPAS-Ocean </a:t>
            </a:r>
            <a:r>
              <a:rPr lang="en-US" dirty="0" err="1"/>
              <a:t>spinup</a:t>
            </a:r>
            <a:r>
              <a:rPr lang="en-US" dirty="0"/>
              <a:t> states with a mesh GNN and fusion transformer</a:t>
            </a:r>
            <a:br>
              <a:rPr lang="en-US" dirty="0">
                <a:effectLst/>
                <a:latin typeface="Helvetica Neue" panose="02000503000000020004" pitchFamily="2" charset="0"/>
              </a:rPr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BAEB645C-19EC-0257-4330-40622B2E3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733" y="2591410"/>
            <a:ext cx="8678193" cy="1675179"/>
          </a:xfrm>
        </p:spPr>
        <p:txBody>
          <a:bodyPr/>
          <a:lstStyle/>
          <a:p>
            <a:endParaRPr lang="en-US" sz="1400" dirty="0"/>
          </a:p>
          <a:p>
            <a:r>
              <a:rPr lang="en-US" sz="1400" dirty="0">
                <a:latin typeface="Century Gothic"/>
                <a:cs typeface="Arial"/>
              </a:rPr>
              <a:t>D. Wang, H. Kang (Oak Ridge National Laboratory)</a:t>
            </a:r>
          </a:p>
          <a:p>
            <a:r>
              <a:rPr lang="en-US" sz="1400" dirty="0"/>
              <a:t>A. Barthel (Las Almos National Laboratory)</a:t>
            </a:r>
          </a:p>
          <a:p>
            <a:r>
              <a:rPr lang="en-US" sz="1400" dirty="0"/>
              <a:t>Others (TBD)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23275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860"/>
    </mc:Choice>
    <mc:Fallback xmlns="">
      <p:transition spd="slow" advTm="5886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B88EC-2FDB-95FA-0191-0E8DD2D14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74320"/>
            <a:ext cx="11430000" cy="535531"/>
          </a:xfrm>
        </p:spPr>
        <p:txBody>
          <a:bodyPr/>
          <a:lstStyle/>
          <a:p>
            <a:r>
              <a:rPr lang="en-US" dirty="0"/>
              <a:t>Background and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A173A-50DF-7655-A4C8-7FAB7A9C1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Background:</a:t>
            </a:r>
          </a:p>
          <a:p>
            <a:pPr lvl="1"/>
            <a:r>
              <a:rPr lang="en-US" dirty="0" err="1"/>
              <a:t>GraphCast</a:t>
            </a:r>
            <a:r>
              <a:rPr lang="en-US" dirty="0"/>
              <a:t>-style unstructured mesh modeling</a:t>
            </a:r>
          </a:p>
          <a:p>
            <a:pPr lvl="1"/>
            <a:r>
              <a:rPr lang="en-US" dirty="0" err="1"/>
              <a:t>LandSim</a:t>
            </a:r>
            <a:r>
              <a:rPr lang="en-US" dirty="0"/>
              <a:t>-style multi-source, early-to-equilibrium workflow</a:t>
            </a:r>
          </a:p>
          <a:p>
            <a:r>
              <a:rPr lang="en-US" dirty="0"/>
              <a:t>Problem: </a:t>
            </a:r>
          </a:p>
          <a:p>
            <a:pPr lvl="1"/>
            <a:r>
              <a:rPr lang="en-US" dirty="0"/>
              <a:t>MPAS-Ocean needs long </a:t>
            </a:r>
            <a:r>
              <a:rPr lang="en-US" dirty="0" err="1"/>
              <a:t>spinup</a:t>
            </a:r>
            <a:r>
              <a:rPr lang="en-US" dirty="0"/>
              <a:t> for consistent T, S, circulation, and SSH on unstructured meshes (E3SM v3; MPAS-Ocean User Guide). Full </a:t>
            </a:r>
            <a:r>
              <a:rPr lang="en-US" dirty="0" err="1"/>
              <a:t>spinup</a:t>
            </a:r>
            <a:r>
              <a:rPr lang="en-US" dirty="0"/>
              <a:t> is costly on Perlmutter / Frontier even with METIS partitioning and optimized builds.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196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6BDC-7C02-71E9-1061-A09E15A3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74320"/>
            <a:ext cx="11430000" cy="535531"/>
          </a:xfrm>
        </p:spPr>
        <p:txBody>
          <a:bodyPr/>
          <a:lstStyle/>
          <a:p>
            <a:r>
              <a:rPr lang="en-US" dirty="0"/>
              <a:t>Approach and Deliverable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0F371-A4FF-5C2F-9D40-BC4268BFE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7" y="1227015"/>
            <a:ext cx="11430000" cy="4047778"/>
          </a:xfrm>
        </p:spPr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rPr lang="en-US" sz="2400" dirty="0"/>
              <a:t>Approach: </a:t>
            </a:r>
          </a:p>
          <a:p>
            <a:pPr lvl="1">
              <a:spcAft>
                <a:spcPts val="1000"/>
              </a:spcAft>
              <a:defRPr sz="1600"/>
            </a:pPr>
            <a:r>
              <a:rPr lang="en-US" sz="2000" dirty="0"/>
              <a:t>Build a </a:t>
            </a:r>
            <a:r>
              <a:rPr lang="en-US" sz="2000" dirty="0" err="1"/>
              <a:t>TypedGraph</a:t>
            </a:r>
            <a:r>
              <a:rPr lang="en-US" sz="2000" dirty="0"/>
              <a:t> from the MPAS mesh; encode early model fields and static geometry with a deep GNN + sparse mesh attention (</a:t>
            </a:r>
            <a:r>
              <a:rPr lang="en-US" sz="2000" dirty="0" err="1"/>
              <a:t>GraphCast</a:t>
            </a:r>
            <a:r>
              <a:rPr lang="en-US" sz="2000" dirty="0"/>
              <a:t> pattern). Fuse multi-source context and short trajectories with a transformer to predict restart-quality 3D state (</a:t>
            </a:r>
            <a:r>
              <a:rPr lang="en-US" sz="2000" dirty="0" err="1"/>
              <a:t>LandSim</a:t>
            </a:r>
            <a:r>
              <a:rPr lang="en-US" sz="2000" dirty="0"/>
              <a:t>-style early → equilibrium).</a:t>
            </a:r>
          </a:p>
          <a:p>
            <a:pPr>
              <a:spcAft>
                <a:spcPts val="1000"/>
              </a:spcAft>
              <a:defRPr sz="1600"/>
            </a:pPr>
            <a:r>
              <a:rPr lang="en-US" sz="2400" dirty="0"/>
              <a:t>Deliverable: </a:t>
            </a:r>
          </a:p>
          <a:p>
            <a:pPr lvl="1">
              <a:spcAft>
                <a:spcPts val="1000"/>
              </a:spcAft>
              <a:defRPr sz="1600"/>
            </a:pPr>
            <a:r>
              <a:rPr lang="en-US" sz="2000" dirty="0" err="1"/>
              <a:t>NetCDF</a:t>
            </a:r>
            <a:r>
              <a:rPr lang="en-US" sz="2000" dirty="0"/>
              <a:t> restart / initial-condition fields compatible with existing workflows—</a:t>
            </a:r>
            <a:r>
              <a:rPr lang="en-US" sz="2000" dirty="0" err="1"/>
              <a:t>namelist.ocean</a:t>
            </a:r>
            <a:r>
              <a:rPr lang="en-US" sz="2000" dirty="0"/>
              <a:t>, streams, </a:t>
            </a:r>
            <a:r>
              <a:rPr lang="en-US" sz="2000" dirty="0" err="1"/>
              <a:t>ocean_model</a:t>
            </a:r>
            <a:r>
              <a:rPr lang="en-US" sz="2000" dirty="0"/>
              <a:t>, </a:t>
            </a:r>
            <a:r>
              <a:rPr lang="en-US" sz="2000" dirty="0" err="1"/>
              <a:t>output.nc</a:t>
            </a:r>
            <a:r>
              <a:rPr lang="en-US" sz="2000" dirty="0"/>
              <a:t> validation.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315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53895-A62D-115A-C51A-FCD7AD5F7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and Evaluation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47E3E-6F22-5BE9-D067-F55280B08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600"/>
            </a:pPr>
            <a:r>
              <a:rPr lang="en-US" sz="2400" dirty="0"/>
              <a:t>Data &amp; docs we have</a:t>
            </a:r>
          </a:p>
          <a:p>
            <a:pPr lvl="1">
              <a:spcAft>
                <a:spcPts val="1200"/>
              </a:spcAft>
              <a:defRPr sz="1600"/>
            </a:pPr>
            <a:r>
              <a:rPr lang="en-US" dirty="0"/>
              <a:t>MPAS_Ocean_Users_Guide_E3SM_V3.0.0.pdf (mesh, streams, restart/history); training pairs = short MPAS runs + matching long </a:t>
            </a:r>
            <a:r>
              <a:rPr lang="en-US" dirty="0" err="1"/>
              <a:t>spinup</a:t>
            </a:r>
            <a:r>
              <a:rPr lang="en-US" dirty="0"/>
              <a:t>; HPC procedure for E3SM build, QU240 tests, Slurm, G-case scripts.</a:t>
            </a:r>
          </a:p>
          <a:p>
            <a:pPr>
              <a:spcAft>
                <a:spcPts val="1200"/>
              </a:spcAft>
              <a:defRPr sz="1600"/>
            </a:pPr>
            <a:r>
              <a:rPr lang="en-US" sz="2400" dirty="0"/>
              <a:t>Steps:</a:t>
            </a:r>
          </a:p>
          <a:p>
            <a:pPr lvl="1">
              <a:spcAft>
                <a:spcPts val="1200"/>
              </a:spcAft>
              <a:defRPr sz="1600"/>
            </a:pPr>
            <a:r>
              <a:rPr lang="en-US" dirty="0"/>
              <a:t>(1) Lock restart </a:t>
            </a:r>
            <a:r>
              <a:rPr lang="en-US" dirty="0" err="1"/>
              <a:t>NetCDF</a:t>
            </a:r>
            <a:r>
              <a:rPr lang="en-US" dirty="0"/>
              <a:t> schema. (2) Mesh → </a:t>
            </a:r>
            <a:r>
              <a:rPr lang="en-US" dirty="0" err="1"/>
              <a:t>TypedGraph</a:t>
            </a:r>
            <a:r>
              <a:rPr lang="en-US" dirty="0"/>
              <a:t> builder + tests. (3) Baselines (interpolation / persistence). (4) GNN single-time predictor. (5) Restart-from-ML vs full </a:t>
            </a:r>
            <a:r>
              <a:rPr lang="en-US" dirty="0" err="1"/>
              <a:t>spinup</a:t>
            </a:r>
            <a:r>
              <a:rPr lang="en-US" dirty="0"/>
              <a:t> short forward runs.</a:t>
            </a:r>
          </a:p>
          <a:p>
            <a:pPr>
              <a:spcAft>
                <a:spcPts val="1200"/>
              </a:spcAft>
              <a:defRPr sz="1600"/>
            </a:pPr>
            <a:r>
              <a:rPr lang="en-US" sz="2400" dirty="0"/>
              <a:t>Evaluation metrics: (TBD with further discussion)</a:t>
            </a:r>
          </a:p>
          <a:p>
            <a:pPr lvl="1">
              <a:spcAft>
                <a:spcPts val="1200"/>
              </a:spcAft>
              <a:defRPr sz="1600"/>
            </a:pPr>
            <a:r>
              <a:rPr lang="en-US" dirty="0"/>
              <a:t>RMSE / bias vs reference on native cells; stratification sanity; forward drift test after restart; </a:t>
            </a:r>
            <a:r>
              <a:rPr lang="en-US" dirty="0" err="1"/>
              <a:t>wallclock</a:t>
            </a:r>
            <a:r>
              <a:rPr lang="en-US" dirty="0"/>
              <a:t> and human time saved per new initialized case.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8811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1E4F2-27B7-5079-531C-CA7847B7E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Mesh-handling in </a:t>
            </a:r>
            <a:r>
              <a:rPr lang="en-US" dirty="0" err="1"/>
              <a:t>GraphCast</a:t>
            </a:r>
            <a:endParaRPr lang="en-US" dirty="0"/>
          </a:p>
        </p:txBody>
      </p:sp>
      <p:sp>
        <p:nvSpPr>
          <p:cNvPr id="5" name="AutoShape 4" descr="GraphCast grid to mesh diagram">
            <a:extLst>
              <a:ext uri="{FF2B5EF4-FFF2-40B4-BE49-F238E27FC236}">
                <a16:creationId xmlns:a16="http://schemas.microsoft.com/office/drawing/2014/main" id="{F8A6AF96-1CC6-3AFE-A013-4E6D5CBF16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673709-A37A-0176-4E26-2900266FE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" y="1045096"/>
            <a:ext cx="10287000" cy="43826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2FB31F-AEC9-01B3-5CC1-4A29ED4B9A60}"/>
              </a:ext>
            </a:extLst>
          </p:cNvPr>
          <p:cNvSpPr txBox="1"/>
          <p:nvPr/>
        </p:nvSpPr>
        <p:spPr>
          <a:xfrm>
            <a:off x="1048512" y="4992749"/>
            <a:ext cx="10192512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MPAS analogy. MPAS-Ocean already uses an unstructured horizontal mesh; a </a:t>
            </a:r>
            <a:r>
              <a:rPr lang="en-US" dirty="0" err="1"/>
              <a:t>GraphCast</a:t>
            </a:r>
            <a:r>
              <a:rPr lang="en-US" dirty="0"/>
              <a:t>-style design could skip grid2mesh/mesh2grid for native-cell prediction if we do not want to fuse reanalysis on a regular grid with MPAS cell fields.  (Need further discussion)</a:t>
            </a:r>
          </a:p>
          <a:p>
            <a:pPr algn="l">
              <a:lnSpc>
                <a:spcPct val="90000"/>
              </a:lnSpc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6398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220E-60B3-3F58-1544-2EA1EAA82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Model Architecture and Dataflow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8B471D1-085C-E6EB-EBA4-FDC986A45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810512" y="804672"/>
            <a:ext cx="8394192" cy="5596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10475532"/>
      </p:ext>
    </p:extLst>
  </p:cSld>
  <p:clrMapOvr>
    <a:masterClrMapping/>
  </p:clrMapOvr>
</p:sld>
</file>

<file path=ppt/theme/theme1.xml><?xml version="1.0" encoding="utf-8"?>
<a:theme xmlns:a="http://schemas.openxmlformats.org/drawingml/2006/main" name="ORNL">
  <a:themeElements>
    <a:clrScheme name="ORNL theme colors 180717 final">
      <a:dk1>
        <a:sysClr val="windowText" lastClr="000000"/>
      </a:dk1>
      <a:lt1>
        <a:sysClr val="window" lastClr="FFFFFF"/>
      </a:lt1>
      <a:dk2>
        <a:srgbClr val="447E59"/>
      </a:dk2>
      <a:lt2>
        <a:srgbClr val="FFFFFF"/>
      </a:lt2>
      <a:accent1>
        <a:srgbClr val="3BA2AD"/>
      </a:accent1>
      <a:accent2>
        <a:srgbClr val="8FBB55"/>
      </a:accent2>
      <a:accent3>
        <a:srgbClr val="5785B7"/>
      </a:accent3>
      <a:accent4>
        <a:srgbClr val="E5A940"/>
      </a:accent4>
      <a:accent5>
        <a:srgbClr val="919785"/>
      </a:accent5>
      <a:accent6>
        <a:srgbClr val="CB4D3D"/>
      </a:accent6>
      <a:hlink>
        <a:srgbClr val="397D52"/>
      </a:hlink>
      <a:folHlink>
        <a:srgbClr val="00000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accent1">
              <a:lumMod val="50000"/>
            </a:schemeClr>
          </a:solidFill>
          <a:miter lim="800000"/>
        </a:ln>
        <a:effectLst/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/>
      </a:spPr>
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lnSpc>
            <a:spcPct val="90000"/>
          </a:lnSpc>
          <a:defRPr dirty="0" smtClean="0">
            <a:solidFill>
              <a:schemeClr val="tx1"/>
            </a:solidFill>
          </a:defRPr>
        </a:defPPr>
      </a:lstStyle>
      <a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>
              <a:lumMod val="50000"/>
            </a:schemeClr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defRPr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CCS_2022" id="{7D5A7523-3181-BF4A-AFC8-EFB2F2CB4BC1}" vid="{E68A2161-1690-0648-B94F-0F23A77C6C3C}"/>
    </a:ext>
  </a:extLst>
</a:theme>
</file>

<file path=ppt/theme/theme2.xml><?xml version="1.0" encoding="utf-8"?>
<a:theme xmlns:a="http://schemas.openxmlformats.org/drawingml/2006/main" name="Office Theme">
  <a:themeElements>
    <a:clrScheme name="ORNL presentation palette 180710">
      <a:dk1>
        <a:sysClr val="windowText" lastClr="000000"/>
      </a:dk1>
      <a:lt1>
        <a:sysClr val="window" lastClr="FFFFFF"/>
      </a:lt1>
      <a:dk2>
        <a:srgbClr val="447E59"/>
      </a:dk2>
      <a:lt2>
        <a:srgbClr val="FFFFFF"/>
      </a:lt2>
      <a:accent1>
        <a:srgbClr val="17A6B6"/>
      </a:accent1>
      <a:accent2>
        <a:srgbClr val="98BA6A"/>
      </a:accent2>
      <a:accent3>
        <a:srgbClr val="5085C0"/>
      </a:accent3>
      <a:accent4>
        <a:srgbClr val="EC855C"/>
      </a:accent4>
      <a:accent5>
        <a:srgbClr val="8E7B6C"/>
      </a:accent5>
      <a:accent6>
        <a:srgbClr val="C75653"/>
      </a:accent6>
      <a:hlink>
        <a:srgbClr val="397D52"/>
      </a:hlink>
      <a:folHlink>
        <a:srgbClr val="00000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NL presentation palette 180710">
      <a:dk1>
        <a:sysClr val="windowText" lastClr="000000"/>
      </a:dk1>
      <a:lt1>
        <a:sysClr val="window" lastClr="FFFFFF"/>
      </a:lt1>
      <a:dk2>
        <a:srgbClr val="447E59"/>
      </a:dk2>
      <a:lt2>
        <a:srgbClr val="FFFFFF"/>
      </a:lt2>
      <a:accent1>
        <a:srgbClr val="17A6B6"/>
      </a:accent1>
      <a:accent2>
        <a:srgbClr val="98BA6A"/>
      </a:accent2>
      <a:accent3>
        <a:srgbClr val="5085C0"/>
      </a:accent3>
      <a:accent4>
        <a:srgbClr val="EC855C"/>
      </a:accent4>
      <a:accent5>
        <a:srgbClr val="8E7B6C"/>
      </a:accent5>
      <a:accent6>
        <a:srgbClr val="C75653"/>
      </a:accent6>
      <a:hlink>
        <a:srgbClr val="397D52"/>
      </a:hlink>
      <a:folHlink>
        <a:srgbClr val="00000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75B17BC858B94FAA5409F11FF9B884" ma:contentTypeVersion="0" ma:contentTypeDescription="Create a new document." ma:contentTypeScope="" ma:versionID="ba30602e445ba7bd833ef2f532e4a5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4FB6BD-000C-41AF-9DE8-4264F777F3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A20C22-D077-412B-81BA-8B2541026FAD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F6B0504-AE38-4B68-B5E7-89AA94502C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ORNL</Template>
  <TotalTime>27362</TotalTime>
  <Words>373</Words>
  <Application>Microsoft Macintosh PowerPoint</Application>
  <PresentationFormat>Widescreen</PresentationFormat>
  <Paragraphs>29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Century Gothic</vt:lpstr>
      <vt:lpstr>Helvetica Neue</vt:lpstr>
      <vt:lpstr>ORNL</vt:lpstr>
      <vt:lpstr>Learning MPAS-Ocean spinup states with a mesh GNN and fusion transformer   </vt:lpstr>
      <vt:lpstr>Background and Problem</vt:lpstr>
      <vt:lpstr>Approach and Deliverable</vt:lpstr>
      <vt:lpstr>Steps and Evaluation Metric</vt:lpstr>
      <vt:lpstr>Background: Mesh-handling in GraphCast</vt:lpstr>
      <vt:lpstr>Background: Model Architecture and Dataflow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Wang, Dali</dc:creator>
  <cp:keywords/>
  <dc:description/>
  <cp:lastModifiedBy>Wang, Dali</cp:lastModifiedBy>
  <cp:revision>295</cp:revision>
  <cp:lastPrinted>2025-01-27T21:59:36Z</cp:lastPrinted>
  <dcterms:created xsi:type="dcterms:W3CDTF">2024-06-11T12:19:08Z</dcterms:created>
  <dcterms:modified xsi:type="dcterms:W3CDTF">2026-05-09T12:58:44Z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0x0101003975B17BC858B94FAA5409F11FF9B884</vt:lpwstr>
  </property>
</Properties>
</file>